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8C8C"/>
                </a:solidFill>
                <a:latin typeface="Calibri"/>
              </a:rPr>
              <a:t>AGENDA · WHAT WE HAVE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34E"/>
                </a:solidFill>
                <a:latin typeface="Calibri"/>
              </a:rPr>
              <a:t>Reconstructing Worn Tooth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F334E"/>
                </a:solidFill>
                <a:latin typeface="Calibri"/>
              </a:rPr>
              <a:t>•  Goal: restore missing anatomy on worn EDJ molar surfaces (dental wear removes cusp geometry).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F334E"/>
                </a:solidFill>
                <a:latin typeface="Calibri"/>
              </a:rPr>
              <a:t>•  Built a Statistical Shape Model (SSM) pipeline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55A60"/>
                </a:solidFill>
                <a:latin typeface="Calibri"/>
              </a:rPr>
              <a:t>–  Point correspondence across 15 unworn + 25 worn teeth (100k points each)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55A60"/>
                </a:solidFill>
                <a:latin typeface="Calibri"/>
              </a:rPr>
              <a:t>–  Per-tooth neighborhood-adaptive SSM reconstruction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F334E"/>
                </a:solidFill>
                <a:latin typeface="Calibri"/>
              </a:rPr>
              <a:t>•  Explored several reconstruction strategies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55A60"/>
                </a:solidFill>
                <a:latin typeface="Calibri"/>
              </a:rPr>
              <a:t>–  Global / neighborhood SSM fit; deviation swap; correspondence blend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55A60"/>
                </a:solidFill>
                <a:latin typeface="Calibri"/>
              </a:rPr>
              <a:t>–  New patch-based reconstruction that fills only the worn regions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F334E"/>
                </a:solidFill>
                <a:latin typeface="Calibri"/>
              </a:rPr>
              <a:t>•  Quantitative evaluation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55A60"/>
                </a:solidFill>
                <a:latin typeface="Calibri"/>
              </a:rPr>
              <a:t>–  Chamfer distance of each method vs. the ORIGINAL unworn teeth (TEST1=n0245, TEST2=n0257)</a:t>
            </a:r>
          </a:p>
          <a:p>
            <a:pPr lvl="1">
              <a:spcAft>
                <a:spcPts val="800"/>
              </a:spcAft>
            </a:pPr>
            <a:r>
              <a:rPr sz="1700" b="0">
                <a:solidFill>
                  <a:srgbClr val="555A60"/>
                </a:solidFill>
                <a:latin typeface="Calibri"/>
              </a:rPr>
              <a:t>–  8 progressive wear levels each (Molnar stages 3–6)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8C8C"/>
                </a:solidFill>
                <a:latin typeface="Calibri"/>
              </a:rPr>
              <a:t>SAMPLE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34E"/>
                </a:solidFill>
                <a:latin typeface="Calibri"/>
              </a:rPr>
              <a:t>Example Reconstructions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F2F5F7"/>
          </a:solidFill>
          <a:ln w="19050">
            <a:solidFill>
              <a:srgbClr val="2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555A60"/>
                </a:solidFill>
                <a:latin typeface="Calibri"/>
              </a:rPr>
              <a:t>[ Add sample images here ]</a:t>
            </a:r>
          </a:p>
          <a:p>
            <a:pPr algn="ctr"/>
            <a:r>
              <a:rPr sz="1600">
                <a:solidFill>
                  <a:srgbClr val="555A60"/>
                </a:solidFill>
                <a:latin typeface="Calibri"/>
              </a:rPr>
              <a:t>e.g. worn input  →  reconstruction  →  overlay vs. original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8C8C"/>
                </a:solidFill>
                <a:latin typeface="Calibri"/>
              </a:rPr>
              <a:t>EVALUATION · CHAMFER DISTANCE (MM, LOWER = BETTER)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34E"/>
                </a:solidFill>
                <a:latin typeface="Calibri"/>
              </a:rPr>
              <a:t>Results: Accuracy vs. the Original Tooth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8C8C"/>
                </a:solidFill>
                <a:latin typeface="Calibri"/>
              </a:rPr>
              <a:t>Mean over all 8 wear levels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5532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100584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T="12700" marB="12700" marL="63500" marR="63500">
                    <a:solidFill>
                      <a:srgbClr val="1F3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TEST1</a:t>
                      </a:r>
                    </a:p>
                  </a:txBody>
                  <a:tcPr anchor="ctr" marT="12700" marB="12700" marL="63500" marR="63500">
                    <a:solidFill>
                      <a:srgbClr val="1F3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TEST2</a:t>
                      </a:r>
                    </a:p>
                  </a:txBody>
                  <a:tcPr anchor="ctr" marT="12700" marB="12700" marL="63500" marR="63500">
                    <a:solidFill>
                      <a:srgbClr val="1F334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CA02C"/>
                          </a:solidFill>
                          <a:latin typeface="Calibri"/>
                        </a:rPr>
                        <a:t>Patch (holes, TPS)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CA02C"/>
                          </a:solidFill>
                          <a:latin typeface="Calibri"/>
                        </a:rPr>
                        <a:t>0.0495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CA02C"/>
                          </a:solidFill>
                          <a:latin typeface="Calibri"/>
                        </a:rPr>
                        <a:t>0.0321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4E"/>
                          </a:solidFill>
                          <a:latin typeface="Calibri"/>
                        </a:rPr>
                        <a:t>Neighborhood SSM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334E"/>
                          </a:solidFill>
                          <a:latin typeface="Calibri"/>
                        </a:rPr>
                        <a:t>0.0598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334E"/>
                          </a:solidFill>
                          <a:latin typeface="Calibri"/>
                        </a:rPr>
                        <a:t>0.0575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4E"/>
                          </a:solidFill>
                          <a:latin typeface="Calibri"/>
                        </a:rPr>
                        <a:t>Correspondence blend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334E"/>
                          </a:solidFill>
                          <a:latin typeface="Calibri"/>
                        </a:rPr>
                        <a:t>0.0793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334E"/>
                          </a:solidFill>
                          <a:latin typeface="Calibri"/>
                        </a:rPr>
                        <a:t>0.0624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34E"/>
                          </a:solidFill>
                          <a:latin typeface="Calibri"/>
                        </a:rPr>
                        <a:t>Deviation swap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334E"/>
                          </a:solidFill>
                          <a:latin typeface="Calibri"/>
                        </a:rPr>
                        <a:t>0.0796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334E"/>
                          </a:solidFill>
                          <a:latin typeface="Calibri"/>
                        </a:rPr>
                        <a:t>0.0638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146304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8C8C"/>
                </a:solidFill>
                <a:latin typeface="Calibri"/>
              </a:rPr>
              <a:t>Per wear level  ·  Patch (TPS) vs SSM  ·  Molnar 3→6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783080"/>
          <a:ext cx="53492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18872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Lvl</a:t>
                      </a:r>
                    </a:p>
                  </a:txBody>
                  <a:tcPr anchor="ctr" marT="12700" marB="12700" marL="63500" marR="63500">
                    <a:solidFill>
                      <a:srgbClr val="1F3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T1 TPS</a:t>
                      </a:r>
                    </a:p>
                  </a:txBody>
                  <a:tcPr anchor="ctr" marT="12700" marB="12700" marL="63500" marR="63500">
                    <a:solidFill>
                      <a:srgbClr val="1F3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T1 SSM</a:t>
                      </a:r>
                    </a:p>
                  </a:txBody>
                  <a:tcPr anchor="ctr" marT="12700" marB="12700" marL="63500" marR="63500">
                    <a:solidFill>
                      <a:srgbClr val="1F3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T2 TPS</a:t>
                      </a:r>
                    </a:p>
                  </a:txBody>
                  <a:tcPr anchor="ctr" marT="12700" marB="12700" marL="63500" marR="63500">
                    <a:solidFill>
                      <a:srgbClr val="1F3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T2 SSM</a:t>
                      </a:r>
                    </a:p>
                  </a:txBody>
                  <a:tcPr anchor="ctr" marT="12700" marB="12700" marL="63500" marR="63500">
                    <a:solidFill>
                      <a:srgbClr val="1F33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34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0.0183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0.0491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0.0175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0.0523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34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0.0187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0.0516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0.0179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0.0524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34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0.0218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0.0532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0.0188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0.0538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34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0.0233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0.0557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0.0199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0.0537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34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0.0283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0.0583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0.0214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0.0537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34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0.0281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0.0602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0.0250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0.0539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34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0.0595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0.0851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0.0377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0.0676</a:t>
                      </a:r>
                    </a:p>
                  </a:txBody>
                  <a:tcPr anchor="ctr" marT="12700" marB="127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34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0.1976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0.0652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A60"/>
                          </a:solidFill>
                          <a:latin typeface="Calibri"/>
                        </a:rPr>
                        <a:t>0.0993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CA02C"/>
                          </a:solidFill>
                          <a:latin typeface="Calibri"/>
                        </a:rPr>
                        <a:t>0.0729</a:t>
                      </a:r>
                    </a:p>
                  </a:txBody>
                  <a:tcPr anchor="ctr" marT="12700" marB="12700" marL="63500" marR="63500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6235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F334E"/>
                </a:solidFill>
                <a:latin typeface="Calibri"/>
              </a:rPr>
              <a:t>•  Patch wins at mild–moderate wear (levels 0–6); SSM wins at severe wear (level 7).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A60"/>
                </a:solidFill>
                <a:latin typeface="Calibri"/>
              </a:rPr>
              <a:t>•  Patch is best on mean Chamfer (~17% better than SSM on TEST1, ~44% on TEST2) — it keeps the real surface and only fills worn regions.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A60"/>
                </a:solidFill>
                <a:latin typeface="Calibri"/>
              </a:rPr>
              <a:t>•  Green = better (lower) of the two for that level.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8C8C"/>
                </a:solidFill>
                <a:latin typeface="Calibri"/>
              </a:rPr>
              <a:t>THE APPROACH THAT SCORED BEST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34E"/>
                </a:solidFill>
                <a:latin typeface="Calibri"/>
              </a:rPr>
              <a:t>New Method: Patch-Based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•  Idea: keep the real worn surface, restore ONLY the missing material.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•  Detect worn / open-hole regions on the real scanned tooth.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•  Fill each region with the SSM reconstruction as a graft: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55A60"/>
                </a:solidFill>
                <a:latin typeface="Calibri"/>
              </a:rPr>
              <a:t>–  Locally ICP-align the reconstruction to the worn rim around each hole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55A60"/>
                </a:solidFill>
                <a:latin typeface="Calibri"/>
              </a:rPr>
              <a:t>–  Fit a thin-plate-spline height field in the hole's own local frame — smooth and follows the tooth's curvature (no flat tops)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55A60"/>
                </a:solidFill>
                <a:latin typeface="Calibri"/>
              </a:rPr>
              <a:t>–  Match the patch density to the surrounding surface and feather the seam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55A60"/>
                </a:solidFill>
                <a:latin typeface="Calibri"/>
              </a:rPr>
              <a:t>–  Restrict filling to the occlusal surface — the cervical base is left open (not patched)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•  Result: real detail is preserved everywhere intact; only worn cusps are rebuilt.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•  Closest reconstruction to the original full tooth: 0.0495 mm (TEST1), 0.0321 mm (TEST2).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